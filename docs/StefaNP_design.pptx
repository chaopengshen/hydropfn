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StefaNP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multimodal masked autoencoder whose prediction is conditioned on a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retrieved context set of sites — a Transformer Neural Process for hydrology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D6E6EF"/>
                </a:solidFill>
                <a:latin typeface="Calibri"/>
              </a:rPr>
              <a:t>Design, training of each component, how they connect,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D6E6EF"/>
                </a:solidFill>
                <a:latin typeface="Calibri"/>
              </a:rPr>
              <a:t>and how to judge whether each one earns its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C0D8E6"/>
                </a:solidFill>
                <a:latin typeface="Calibri"/>
              </a:rPr>
              <a:t>Sibling to StefaLand (arXiv:2509.17942), extending it with cross-site in-context inference and DEM pixels   ·   2026-08-20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Naming: this is a Neural Process, not a PFN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Being precise about the mechanism keeps the claims honest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1828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5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25272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5F8A"/>
                </a:solidFill>
                <a:latin typeface="Calibri"/>
              </a:rPr>
              <a:t>PFN (TabPFN)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34381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Prior-data fitted: pretrained on samples from a SYNTHETIC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prior to amortise Bayesian inference.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That is its defining property — not the in-context part.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657600" cy="1828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125272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5F8A"/>
                </a:solidFill>
                <a:latin typeface="Calibri"/>
              </a:rPr>
              <a:t>Neural Process / TNP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1572768"/>
            <a:ext cx="343814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Context set -&gt; predict at query.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TabPFN is a TNP with a synthetic prior.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The conditioning mechanism we want lives 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566160" cy="1828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5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47888" y="1252728"/>
            <a:ext cx="3346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5F8A"/>
                </a:solidFill>
                <a:latin typeface="Calibri"/>
              </a:rPr>
              <a:t>Time-series FMs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7888" y="1572768"/>
            <a:ext cx="334670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Moirai (any-variate, missing channels — closest),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Chronos, TimesFM, PatchTST / Ti-MAE.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Source of the temporal unit's recipe.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91840"/>
            <a:ext cx="11247120" cy="105156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" y="34290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We pretrain on REAL masked data, so "PFN" would be inaccurate. It becomes defensible only if the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simulator-generated task prior is actually built — and even then it is a hybrid.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720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B5F8A"/>
                </a:solidFill>
                <a:latin typeface="Calibri"/>
              </a:rPr>
              <a:t>Working name  StefaNP  —  Stefa (family link to StefaLand, whose static unit we reuse)</a:t>
            </a:r>
          </a:p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B5F8A"/>
                </a:solidFill>
                <a:latin typeface="Calibri"/>
              </a:rPr>
              <a:t>                                    +  NP (Neural Process: the honest mechanism)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What StefaLand already is, and what we actually add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Corrected after reading the code on ICDS — the design is more incremental than first drawn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486400" cy="2423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A5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24358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A5F66"/>
                </a:solidFill>
                <a:latin typeface="Calibri"/>
              </a:rPr>
              <a:t>StefaLand (arXiv:2509.17942), as inspected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Masked autoencoder that ALREADY FUSES static + time series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hidden 256 · 4 heads · 4 enc layers · d_ffd 512  (57 MB)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5 forcing series: P, RelHum, SWd, Tmax, Tmin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~49 statics: GMTED terrain, HWSD + SoilGrid2 soils,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   MSWX climate, land cover, catchsize, porosity, soil_depth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NO channel geometry of any kind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ships eval_probe.py (leave-region-out linear probe) and an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   image pathway (zarr_image_loader, image_encoders/)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43000"/>
            <a:ext cx="5486400" cy="2423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24358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7F4B"/>
                </a:solidFill>
                <a:latin typeface="Calibri"/>
              </a:rPr>
              <a:t>What StefaNP genuinely adds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1. CROSS-SITE attention (the connector) — context from other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  sites at inference. StefaLand is per-site only.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2. DEM PIXELS as a modality (unit B) — StefaLand is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  attribute-based, so it cannot work where no attribute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  table exists, i.e. most of the globe.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3. POINT MEASUREMENTS as tokens (unit D) — irregular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  (var, value, covariate) visits; this is what delivers the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  measured cross-variable gain.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4. DECODERS for masked reconstruction in data space.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49039"/>
            <a:ext cx="11247120" cy="91440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385876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So the honest mapping is:  StefaLand  ≈  units A + C already fused.  An earlier slide split them as if the temporal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unit were new — it is not. Good for feasibility (a pretrained backbone exists), sobering for novelty claims.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46320"/>
            <a:ext cx="1124712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4956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57A0B"/>
                </a:solidFill>
                <a:latin typeface="Calibri"/>
              </a:rPr>
              <a:t>Measured caveat before reuse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Its embeddings reconstruct absolute elevation at R² 0.936 — but that is NOT learned memorisation: GMTED_elevation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is one of its static INPUTS. De-locating is therefore a one-line ablation, not a research problem. They also added −0.004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to channel geometry over 20 tabular attributes (expected: that task has a tabular shortcut).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Architecture: encoder / connector / decoder, three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Every unit needs an ENCODER and a DECODER; the connector only ever sees site summaries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41832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B5F8A"/>
                </a:solidFill>
                <a:latin typeface="Calibri"/>
              </a:rPr>
              <a:t>LEVEL 1 — per-site ENCODERS.  d = 256 everywhere (StefaLand's width, so its weights drop in unchanged).  B = batch, S = sites, M = visits.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98448"/>
            <a:ext cx="2651760" cy="18745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21208" y="1353312"/>
            <a:ext cx="2432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7F4B"/>
                </a:solidFill>
                <a:latin typeface="Calibri"/>
              </a:rPr>
              <a:t>A · Static 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" y="1645919"/>
            <a:ext cx="2432304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IN   (B,S,49) attributes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ENC  MLP 49-&gt;256-&gt;256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OUT  (B,S,1,256)  1 token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Pretrain: mask 15% of the 49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  attrs, regress them back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STATUS reuse StefaLand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3172968"/>
            <a:ext cx="0" cy="274319"/>
          </a:xfrm>
          <a:prstGeom prst="line">
            <a:avLst/>
          </a:prstGeom>
          <a:ln w="20320">
            <a:solidFill>
              <a:srgbClr val="1B7F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36976" y="1298448"/>
            <a:ext cx="2651760" cy="18745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346704" y="1353312"/>
            <a:ext cx="2432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7F4B"/>
                </a:solidFill>
                <a:latin typeface="Calibri"/>
              </a:rPr>
              <a:t>B · Terrain (DEM)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1645919"/>
            <a:ext cx="2432304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IN   (B,S,1,128,128) @10 m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ENC  conv 128-&gt;16, pool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OUT  (B,S,1..4,256)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Pretrain: masked recon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  (diffusion for the decoder)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STATUS built, sampler works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62856" y="3172968"/>
            <a:ext cx="0" cy="274319"/>
          </a:xfrm>
          <a:prstGeom prst="line">
            <a:avLst/>
          </a:prstGeom>
          <a:ln w="20320">
            <a:solidFill>
              <a:srgbClr val="1B7F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62472" y="1298448"/>
            <a:ext cx="2651760" cy="18745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172200" y="1353312"/>
            <a:ext cx="2432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03A2B"/>
                </a:solidFill>
                <a:latin typeface="Calibri"/>
              </a:rPr>
              <a:t>C · Forcing-response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645919"/>
            <a:ext cx="2432304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IN   (B,S,T,V) T~3650 d, V~10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  + the A and B tokens, in the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  SAME sequence (that is how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  attributes reach unit C)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ENC  16-d patches -&gt; 228 tok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     -&gt; pool to 2-4 tokens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OUT  (B,S,2..4,256)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STATUS NOT BUILT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88352" y="3172968"/>
            <a:ext cx="0" cy="274319"/>
          </a:xfrm>
          <a:prstGeom prst="line">
            <a:avLst/>
          </a:prstGeom>
          <a:ln w="20320">
            <a:solidFill>
              <a:srgbClr val="B03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887967" y="1298448"/>
            <a:ext cx="2651760" cy="187451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97695" y="1353312"/>
            <a:ext cx="24323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7F4B"/>
                </a:solidFill>
                <a:latin typeface="Calibri"/>
              </a:rPr>
              <a:t>D · Measurement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5" y="1645919"/>
            <a:ext cx="2432304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IN   (B,S,M,3) var/val/cov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ENC  sum of 3 embeddings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OUT  (B,S,M,256)  M~12 tok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Pretrain: masked value</a:t>
            </a:r>
          </a:p>
          <a:p>
            <a:pPr algn="l">
              <a:spcAft>
                <a:spcPts val="100"/>
              </a:spcAft>
            </a:pPr>
            <a:r>
              <a:rPr sz="950" b="0" i="0">
                <a:solidFill>
                  <a:srgbClr val="1A1A1A"/>
                </a:solidFill>
                <a:latin typeface="Calibri"/>
              </a:rPr>
              <a:t>STATUS built, gates pass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213847" y="3172968"/>
            <a:ext cx="0" cy="274319"/>
          </a:xfrm>
          <a:prstGeom prst="line">
            <a:avLst/>
          </a:prstGeom>
          <a:ln w="20320">
            <a:solidFill>
              <a:srgbClr val="1B7F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11480" y="3474720"/>
            <a:ext cx="11375136" cy="475488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8640" y="354787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5F8A"/>
                </a:solidFill>
                <a:latin typeface="Calibri"/>
              </a:rPr>
              <a:t>concat -&gt; per-site bundle  (B, S, K, 256),  K = 4–10 tokens/site   ·   absent modality = absent token (no imputation)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35040" y="3950208"/>
            <a:ext cx="0" cy="256032"/>
          </a:xfrm>
          <a:prstGeom prst="line">
            <a:avLst/>
          </a:prstGeom>
          <a:ln w="27940">
            <a:solidFill>
              <a:srgbClr val="0B5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11480" y="4251960"/>
            <a:ext cx="11375136" cy="114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48640" y="4334256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 i="0">
                <a:solidFill>
                  <a:srgbClr val="1A1A1A"/>
                </a:solidFill>
                <a:latin typeface="Calibri"/>
              </a:rPr>
              <a:t>LEVEL 2 — CONNECTOR, cross-site transformer   (8 layers, 8 heads, d=256, FFN 1024)</a:t>
            </a:r>
          </a:p>
          <a:p>
            <a:pPr algn="ctr">
              <a:spcAft>
                <a:spcPts val="100"/>
              </a:spcAft>
            </a:pPr>
            <a:r>
              <a:rPr sz="1150" b="1" i="0">
                <a:solidFill>
                  <a:srgbClr val="1A1A1A"/>
                </a:solidFill>
                <a:latin typeface="Calibri"/>
              </a:rPr>
              <a:t>IN    (B, 1 + S*K, 256)   flatten sites; prepend [TASK]; + geo-encoding; padding mask (B, 1+S*K)</a:t>
            </a:r>
          </a:p>
          <a:p>
            <a:pPr algn="ctr">
              <a:spcAft>
                <a:spcPts val="100"/>
              </a:spcAft>
            </a:pPr>
            <a:r>
              <a:rPr sz="1150" b="1" i="0">
                <a:solidFill>
                  <a:srgbClr val="1A1A1A"/>
                </a:solidFill>
                <a:latin typeface="Calibri"/>
              </a:rPr>
              <a:t>OUT   (B, 1 + S*K, 256)   -&gt; take position 0 only</a:t>
            </a:r>
          </a:p>
          <a:p>
            <a:pPr algn="ctr">
              <a:spcAft>
                <a:spcPts val="100"/>
              </a:spcAft>
            </a:pPr>
            <a:r>
              <a:rPr sz="1150" b="1" i="0">
                <a:solidFill>
                  <a:srgbClr val="1A1A1A"/>
                </a:solidFill>
                <a:latin typeface="Calibri"/>
              </a:rPr>
              <a:t>permutation-invariant over sites (no positional index)  ·  query attends to context, never the reverse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5040" y="5394960"/>
            <a:ext cx="0" cy="201168"/>
          </a:xfrm>
          <a:prstGeom prst="line">
            <a:avLst/>
          </a:prstGeom>
          <a:ln w="27940">
            <a:solidFill>
              <a:srgbClr val="0B5F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11480" y="5632704"/>
            <a:ext cx="11375136" cy="6583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8640" y="5696712"/>
            <a:ext cx="11064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B7F4B"/>
                </a:solidFill>
                <a:latin typeface="Calibri"/>
              </a:rPr>
              <a:t>LEVEL 3 — per-site DECODERS (one per modality).  IN [ context-aware summary (K,256) + unmasked patches ]  -&gt;  OUT reconstructed data</a:t>
            </a:r>
          </a:p>
          <a:p>
            <a:pPr algn="ctr">
              <a:spcAft>
                <a:spcPts val="100"/>
              </a:spcAft>
            </a:pPr>
            <a:r>
              <a:rPr sz="1100" b="1" i="0">
                <a:solidFill>
                  <a:srgbClr val="1B7F4B"/>
                </a:solidFill>
                <a:latin typeface="Calibri"/>
              </a:rPr>
              <a:t>e.g. temporal decoder -&gt; (B, N_masked, 16) days   ·   scalar head -&gt; (B, 64) bin logits   ·   DEM decoder -&gt; (B,1,128,128).   Loss is in DATA space.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3550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A5F66"/>
                </a:solidFill>
                <a:latin typeface="Calibri"/>
              </a:rPr>
              <a:t>Why three levels: a 40-y daily record is ~900 patch tokens — too many for the connector, which must stay at 4–10 summary tokens/site. The summary is the CONDITIONING VECTOR that carries cross-site information down to the per-site decoder.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What the final transformer actually reads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One flat sequence; every token carries WHO it is, WHAT variable, and WHICH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5F8A"/>
                </a:solidFill>
                <a:latin typeface="Calibri"/>
              </a:rPr>
              <a:t>token  =  content embedding  +  variable-ID embedding  +  covariate embedding  +  role embedding  +  own/context flag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640080" cy="310896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12064" y="1490472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463040"/>
            <a:ext cx="2286000" cy="310896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52144" y="1490472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token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463040"/>
            <a:ext cx="4206240" cy="310896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438144" y="1490472"/>
            <a:ext cx="409651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1463040"/>
            <a:ext cx="1554480" cy="310896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44384" y="1490472"/>
            <a:ext cx="14447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463040"/>
            <a:ext cx="1005840" cy="310896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8864" y="1490472"/>
            <a:ext cx="896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own?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773936"/>
            <a:ext cx="64008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12064" y="1801368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1773936"/>
            <a:ext cx="228600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52144" y="1801368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[TASK]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1773936"/>
            <a:ext cx="420624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38144" y="1801368"/>
            <a:ext cx="409651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var-ID(log_d) + cov(log_Q=3.2) + MASK-value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1773936"/>
            <a:ext cx="155448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44384" y="1801368"/>
            <a:ext cx="14447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query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773936"/>
            <a:ext cx="100584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98864" y="1801368"/>
            <a:ext cx="896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own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084832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12064" y="2112264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2084832"/>
            <a:ext cx="228600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152144" y="2112264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attr(query site)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084832"/>
            <a:ext cx="420624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438144" y="2112264"/>
            <a:ext cx="409651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MLP(18 attributes)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2084832"/>
            <a:ext cx="15544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644384" y="2112264"/>
            <a:ext cx="14447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attribute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0" y="2084832"/>
            <a:ext cx="100584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98864" y="2112264"/>
            <a:ext cx="896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own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395728"/>
            <a:ext cx="64008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12064" y="2423160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97280" y="2395728"/>
            <a:ext cx="228600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152144" y="2423160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dem(query site)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2395728"/>
            <a:ext cx="420624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438144" y="2423160"/>
            <a:ext cx="409651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terrain encoder(128x128 patch)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89520" y="2395728"/>
            <a:ext cx="155448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644384" y="2423160"/>
            <a:ext cx="14447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attribute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2395728"/>
            <a:ext cx="100584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198864" y="2423160"/>
            <a:ext cx="896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own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2706624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12064" y="2734056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3..k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7280" y="2706624"/>
            <a:ext cx="228600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152144" y="2734056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visit(query site)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83280" y="2706624"/>
            <a:ext cx="420624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438144" y="2734056"/>
            <a:ext cx="409651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var-ID(log_W) + value + cov(log_Q)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9520" y="2706624"/>
            <a:ext cx="15544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644384" y="2734056"/>
            <a:ext cx="14447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observed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2706624"/>
            <a:ext cx="100584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198864" y="2734056"/>
            <a:ext cx="896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own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3017520"/>
            <a:ext cx="64008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12064" y="3044951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k+1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97280" y="3017520"/>
            <a:ext cx="228600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1152144" y="3044951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attr(context site 1)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83280" y="3017520"/>
            <a:ext cx="420624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438144" y="3044951"/>
            <a:ext cx="409651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MLP(18 attributes)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89520" y="3017520"/>
            <a:ext cx="155448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644384" y="3044951"/>
            <a:ext cx="14447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attribute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0" y="3017520"/>
            <a:ext cx="100584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198864" y="3044951"/>
            <a:ext cx="896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context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3328415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512064" y="3355847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k+2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97280" y="3328415"/>
            <a:ext cx="228600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152144" y="3355847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ts(context site 1)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383280" y="3328415"/>
            <a:ext cx="420624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3438144" y="3355847"/>
            <a:ext cx="409651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pooled patches + FDC quantiles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89520" y="3328415"/>
            <a:ext cx="15544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644384" y="3355847"/>
            <a:ext cx="14447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attribute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44000" y="3328415"/>
            <a:ext cx="100584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9198864" y="3355847"/>
            <a:ext cx="896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context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7200" y="3639311"/>
            <a:ext cx="64008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512064" y="3666744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k+3..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7280" y="3639311"/>
            <a:ext cx="228600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152144" y="3666744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visit(context site 1)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383280" y="3639311"/>
            <a:ext cx="420624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3438144" y="3666744"/>
            <a:ext cx="409651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var-ID + value + cov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89520" y="3639311"/>
            <a:ext cx="155448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7644384" y="3666744"/>
            <a:ext cx="14447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observed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144000" y="3639311"/>
            <a:ext cx="1005840" cy="31089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198864" y="3666744"/>
            <a:ext cx="896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context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3950207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512064" y="3977639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...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97280" y="3950207"/>
            <a:ext cx="228600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152144" y="3977639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... x N context sites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83280" y="3950207"/>
            <a:ext cx="420624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3438144" y="3977639"/>
            <a:ext cx="409651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(retrieved: attribute / geographic nearest)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89520" y="3950207"/>
            <a:ext cx="15544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644384" y="3977639"/>
            <a:ext cx="14447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0" y="3950207"/>
            <a:ext cx="100584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9198864" y="3977639"/>
            <a:ext cx="8961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context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57200" y="4434840"/>
            <a:ext cx="11247120" cy="100584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40080" y="45445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[TASK] token is the query: it names the variable and the covariates but its VALUE is replaced by a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learned mask embedding. The head reads out at position 0. Prediction = attention from [TASK] over everything else.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56235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5F66"/>
                </a:solidFill>
                <a:latin typeface="Calibri"/>
              </a:rPr>
              <a:t>Sizing:  200–500 context sites x ~5 tokens = 1–2.5k tokens.  Retrieval (which sites to include) is part of the method, not an afterthought.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5F66"/>
                </a:solidFill>
                <a:latin typeface="Calibri"/>
              </a:rPr>
              <a:t>Phase-1 built version: 17 sites x (1 attr + 12 visits) = 221 tokens, 1.2M parameters.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How context vectors are used — one objective, three regimes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Masked-measurement modelling: hide a value, keep its variable-ID and covariates, predict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4114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2984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B7F4B"/>
                </a:solidFill>
                <a:latin typeface="Calibri"/>
              </a:rPr>
              <a:t>Own-site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5A5F66"/>
                </a:solidFill>
                <a:latin typeface="Calibri"/>
              </a:rPr>
              <a:t>context contains: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site's OTHER visits are visible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5A5F66"/>
                </a:solidFill>
                <a:latin typeface="Calibri"/>
              </a:rPr>
              <a:t>use case: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260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at-a-station rating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= amortised partial pooling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886200"/>
            <a:ext cx="3383280" cy="12344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4005072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B7F4B"/>
                </a:solidFill>
                <a:latin typeface="Calibri"/>
              </a:rPr>
              <a:t>A2 PASS: +0.081 / +0.167 / +0.081 R2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B7F4B"/>
                </a:solidFill>
                <a:latin typeface="Calibri"/>
              </a:rPr>
              <a:t>over the per-site power law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188720"/>
            <a:ext cx="3657600" cy="4114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07992" y="12984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B7F4B"/>
                </a:solidFill>
                <a:latin typeface="Calibri"/>
              </a:rPr>
              <a:t>Cross-variable context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7373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5A5F66"/>
                </a:solidFill>
                <a:latin typeface="Calibri"/>
              </a:rPr>
              <a:t>context contains: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19659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only OTHER variables at this 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6974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5A5F66"/>
                </a:solidFill>
                <a:latin typeface="Calibri"/>
              </a:rPr>
              <a:t>use case: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29260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infer depth where only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width was measured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07992" y="3886200"/>
            <a:ext cx="3383280" cy="12344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45152" y="4005072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B7F4B"/>
                </a:solidFill>
                <a:latin typeface="Calibri"/>
              </a:rPr>
              <a:t>A1 PASS: +0.108 R2 on velocity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1B7F4B"/>
                </a:solidFill>
                <a:latin typeface="Calibri"/>
              </a:rPr>
              <a:t>= 2.6x a hand-built RF feature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84464" y="1188720"/>
            <a:ext cx="3657600" cy="4114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21624" y="12984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03A2B"/>
                </a:solidFill>
                <a:latin typeface="Calibri"/>
              </a:rPr>
              <a:t>No own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1624" y="17373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5A5F66"/>
                </a:solidFill>
                <a:latin typeface="Calibri"/>
              </a:rPr>
              <a:t>context contains: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1624" y="19659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neighbouring sites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1624" y="269748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5A5F66"/>
                </a:solidFill>
                <a:latin typeface="Calibri"/>
              </a:rPr>
              <a:t>use case: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21624" y="29260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prediction in ungauged basins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(the global mode)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21624" y="3886200"/>
            <a:ext cx="3383280" cy="12344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558784" y="4005072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B03A2B"/>
                </a:solidFill>
                <a:latin typeface="Calibri"/>
              </a:rPr>
              <a:t>A3 FAIL on 2 of 3: worse than an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B03A2B"/>
                </a:solidFill>
                <a:latin typeface="Calibri"/>
              </a:rPr>
              <a:t>attributes-only RF. The weak point.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4864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weights, same forward pass — only which tokens are present changes. That is why ONE pretraining objective yields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all three behaviours, and why the model degrades gracefully instead of failing when a modality is missing.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Unit C — how the time-series encoder is pretrained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Four mask types; each one IS a downstream capability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737360" cy="384048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12064" y="1216152"/>
            <a:ext cx="16276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1188720"/>
            <a:ext cx="3383280" cy="384048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249424" y="1216152"/>
            <a:ext cx="3273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what is hidden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1188720"/>
            <a:ext cx="3108960" cy="384048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32703" y="1216152"/>
            <a:ext cx="29992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learn from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0" y="1188720"/>
            <a:ext cx="3017520" cy="384048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41664" y="1216152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capability unlocked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72768"/>
            <a:ext cx="1737360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2064" y="1600200"/>
            <a:ext cx="16276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random span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1572768"/>
            <a:ext cx="3383280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249424" y="1600200"/>
            <a:ext cx="3273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contiguous chunk of an obs series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1572768"/>
            <a:ext cx="3108960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32703" y="1600200"/>
            <a:ext cx="29992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forcings + surrounding obs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0" y="1572768"/>
            <a:ext cx="3017520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741664" y="1600200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gap filling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56816"/>
            <a:ext cx="173736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12064" y="1984248"/>
            <a:ext cx="16276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causal 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94560" y="1956816"/>
            <a:ext cx="33832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249424" y="1984248"/>
            <a:ext cx="3273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the future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77840" y="1956816"/>
            <a:ext cx="310896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632703" y="1984248"/>
            <a:ext cx="29992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past only (ONLY causal mask)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0" y="1956816"/>
            <a:ext cx="30175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741664" y="1984248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forecasting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340864"/>
            <a:ext cx="1737360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2368296"/>
            <a:ext cx="16276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whole-variable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94560" y="2340864"/>
            <a:ext cx="3383280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249424" y="2368296"/>
            <a:ext cx="3273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ALL of one series (e.g. soil moisture)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77840" y="2340864"/>
            <a:ext cx="3108960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632703" y="2368296"/>
            <a:ext cx="29992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forcings + the site's other series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0" y="2340864"/>
            <a:ext cx="3017520" cy="38404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741664" y="2368296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cross-variable inference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2724912"/>
            <a:ext cx="173736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12064" y="2752344"/>
            <a:ext cx="162763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whole-site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94560" y="2724912"/>
            <a:ext cx="33832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249424" y="2752344"/>
            <a:ext cx="32735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every observation at the site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77840" y="2724912"/>
            <a:ext cx="310896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632703" y="2752344"/>
            <a:ext cx="29992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forcings + attrs + NEIGHBOUR sites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0" y="2724912"/>
            <a:ext cx="30175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741664" y="2752344"/>
            <a:ext cx="29077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PUB (needs cross-site attn)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3200400"/>
            <a:ext cx="5486400" cy="1828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94360" y="329184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5F8A"/>
                </a:solidFill>
                <a:latin typeface="Calibri"/>
              </a:rPr>
              <a:t>Mechanics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61188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· daily series -&gt; ~16-day patches -&gt; tokens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· channel-independent + variable-ID embedding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· day-of-year features added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· bar-distribution loss on masked patches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· emits BOTH reconstructions and pooled summary tokens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3200400"/>
            <a:ext cx="5486400" cy="1828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355080" y="329184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57A0B"/>
                </a:solidFill>
                <a:latin typeface="Calibri"/>
              </a:rPr>
              <a:t>The 'long record' problem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361188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40 y daily = 14,600 steps = ~900 patches per variable.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Too many to hand to the connector.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-&gt; sample multi-year WINDOWS during training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-&gt; summarise the full record with FDC quantiles +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Calibri"/>
              </a:rPr>
              <a:t>    seasonal statistics beside pooled window tokens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5212080"/>
            <a:ext cx="11247120" cy="77724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40080" y="532180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7F4B"/>
                </a:solidFill>
                <a:latin typeface="Calibri"/>
              </a:rPr>
              <a:t>U3 gate for this unit: masked-span streamflow reconstruction must beat a REGIONAL LSTM on the same basins,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7F4B"/>
                </a:solidFill>
                <a:latin typeface="Calibri"/>
              </a:rPr>
              <a:t>under leave-region-out, before it is allowed into the connected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Unit C — three design questions, answered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Raised 2026-08-20; these change the pretraining recipe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16276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7F4B"/>
                </a:solidFill>
                <a:latin typeface="Calibri"/>
              </a:rPr>
              <a:t>Q  Doesn't this need tokens from the OTHER units to be done properly?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YES — and that reshapes the plan. Streamflow from forcings alone is under-determined; the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response depends on catchment properties that live in units A and B. So unit C is pretrained in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TWO stages: (1) ALONE, forcings-&gt;obs, to prove the temporal encoder works and clear its U3 gate;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(2) JOINTLY, cross-attending to the A/B tokens of the SAME site, which is where basin identity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enters. Stage 1 is a scaffold, not the deliverable — and stage 2's gain over stage 1 is exactly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the U4 evidence that the other units carry something.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52928"/>
            <a:ext cx="11247120" cy="16276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7F4B"/>
                </a:solidFill>
                <a:latin typeface="Calibri"/>
              </a:rPr>
              <a:t>Q  Predict observations from forcings, or also infer forcings from observations?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36976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BOTH — masking must be BIDIRECTIONAL over channels. Forcing-&gt;obs alone teaches a one-way map;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masking precipitation and recovering it from streamflow is a real inverse problem (and a real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product: precipitation correction in poorly-gauged basins). Implementation is free: the mask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sampler simply does not distinguish 'forcing' from 'observation' channels. Every channel is a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token stream with a variable-ID; any of them can be hidden.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608576"/>
            <a:ext cx="11247120" cy="162763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468172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7F4B"/>
                </a:solidFill>
                <a:latin typeface="Calibri"/>
              </a:rPr>
              <a:t>Q  When pretraining the whole thing, do we mask attributes and predict others?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92624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YES, and ACROSS modalities, not just within them. The connected objective masks any subset of: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static attributes  ·  DEM patches  ·  observation series  ·  forcing series  ·  point measurements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— and reconstructs them from whatever remains, including other SITES. That single cross-modal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mask is what makes one model serve every task, and it is why missing-modality dropout during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training is mandatory rather than optional.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8251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0B5F8A"/>
                </a:solidFill>
                <a:latin typeface="Calibri"/>
              </a:rPr>
              <a:t>Consequence: 'pretrain each unit separately, then connect' is right for DEBUGGING, but the final objective must be joint and cross-modal.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Are variables distinguished by their index in the vector?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No — and that choice is what makes missing and new variables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2926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B03A2B"/>
                </a:solidFill>
                <a:latin typeface="Calibri"/>
              </a:rPr>
              <a:t>Fixed-index / channel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x = [ Q, SM, SWE, T, ... ]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variable identity = its SLOT in the vector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· schema fixed at training time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· a missing variable must be imputed or zero-filled,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   and the model cannot tell 'zero' from 'absent'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· adding a new variable = retrain everything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· cannot handle a site that measures a different subset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486400" cy="2926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2984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B7F4B"/>
                </a:solidFill>
                <a:latin typeface="Calibri"/>
              </a:rPr>
              <a:t>Variable-ID embedding (ours, and Moirai's)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token = var_emb[id] + value_emb(v) + cov_emb(Q,t)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variable identity = a LEARNED VECTOR it carries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· any subset of variables, any order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· absent variable = absent token (unambiguous)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· new variable = add an embedding row, fine-tune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· one head serves all variables; the bar-distribution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   borders are per-variable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43400"/>
            <a:ext cx="11247120" cy="9601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445312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Consequence for the connector: the sequence is a SET, not a fixed record. Permutation invariance over both sites and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variables is what lets one model serve every task — and it is why 'missing data' needs no imputation anywhere.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5F66"/>
                </a:solidFill>
                <a:latin typeface="Calibri"/>
              </a:rPr>
              <a:t>Built and verified in Phase 1: nn.Embedding(N_VARS, d) added to every measurement token; the [TASK] token carries the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A5F66"/>
                </a:solidFill>
                <a:latin typeface="Calibri"/>
              </a:rPr>
              <a:t>queried variable's ID with a learned MASK vector in place of the value.  (lib/hydropfn.py)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How to judge whether a component is useful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Five steps; U0–U3 run WITHOUT the connected model, so a dead unit is found in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737360" cy="42062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12064" y="1216152"/>
            <a:ext cx="162763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1188720"/>
            <a:ext cx="5120640" cy="42062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249424" y="1216152"/>
            <a:ext cx="5010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188720"/>
            <a:ext cx="4389120" cy="42062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70064" y="1216152"/>
            <a:ext cx="42793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gate it must clear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09344"/>
            <a:ext cx="173736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12064" y="1636776"/>
            <a:ext cx="162763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U0 adapter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1609344"/>
            <a:ext cx="512064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249424" y="1636776"/>
            <a:ext cx="5010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can raw data become (site, time, var, value, cov) records?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609344"/>
            <a:ext cx="4389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70064" y="1636776"/>
            <a:ext cx="42793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round-trips; missingness explicit, never imputed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29968"/>
            <a:ext cx="173736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2064" y="2057400"/>
            <a:ext cx="162763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U1 encoder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2029968"/>
            <a:ext cx="51206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249424" y="2057400"/>
            <a:ext cx="5010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can it become a small set of tokens?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2029968"/>
            <a:ext cx="4389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70064" y="2057400"/>
            <a:ext cx="42793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fixed token count; absent modality handled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50592"/>
            <a:ext cx="173736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2064" y="2478024"/>
            <a:ext cx="162763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U2 objective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94560" y="2450592"/>
            <a:ext cx="512064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249424" y="2478024"/>
            <a:ext cx="5010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can it be self-supervised alone?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2450592"/>
            <a:ext cx="4389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370064" y="2478024"/>
            <a:ext cx="42793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loss falls on held-out REGIONS, not just rows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71216"/>
            <a:ext cx="173736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2898648"/>
            <a:ext cx="162763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U3 standalone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94560" y="2871216"/>
            <a:ext cx="51206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249424" y="2898648"/>
            <a:ext cx="5010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does the representation beat a simple baseline?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0" y="2871216"/>
            <a:ext cx="43891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70064" y="2898648"/>
            <a:ext cx="42793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named baseline, leave-region-out, noise ceiling measured FIRST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291840"/>
            <a:ext cx="173736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12064" y="3319272"/>
            <a:ext cx="1627631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U4 connection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94560" y="3291840"/>
            <a:ext cx="512064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249424" y="3319272"/>
            <a:ext cx="50109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does it add anything the other units lack?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0" y="3291840"/>
            <a:ext cx="4389120" cy="420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370064" y="3319272"/>
            <a:ext cx="427939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must move a downstream metric; DROP it and see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794760"/>
            <a:ext cx="11247120" cy="1371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0080" y="3904487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03A2B"/>
                </a:solidFill>
                <a:latin typeface="Calibri"/>
              </a:rPr>
              <a:t>Why U4 exists — measured three separate times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22452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StefaLand embeddings −0.004    ·    upstream network structure ±0.001    ·    cross-section CNN ~0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A unit can encode real physics and still add NOTHING if simpler inputs already carry it. Passing U3 is not permission to ship.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349240"/>
            <a:ext cx="11247120" cy="105156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0080" y="5458968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Standing rules: split by SITE never COMID  ·  identical row/site population across compared models (a forgotten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control turned a real +0.024 into an apparent +0.090)  ·  report SEEDS not single runs  ·  exercise a metric on a known input before believing a table built from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Evidence so far — what is proven, what failed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Every number from a leave-region-out run this month; failures kept on the slide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743200" cy="365760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12064" y="1170432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gate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143000"/>
            <a:ext cx="3931920" cy="365760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255264" y="1170432"/>
            <a:ext cx="38221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what it tests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1143000"/>
            <a:ext cx="3200400" cy="365760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87183" y="1170432"/>
            <a:ext cx="3090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720" y="1143000"/>
            <a:ext cx="1371600" cy="365760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387584" y="117043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verdict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27432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2064" y="1536192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T2 cross-variable (RF)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508760"/>
            <a:ext cx="393192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255264" y="1536192"/>
            <a:ext cx="38221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hand-built width anomaly -&gt; velocity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508760"/>
            <a:ext cx="32004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87183" y="1536192"/>
            <a:ext cx="3090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B7F4B"/>
                </a:solidFill>
                <a:latin typeface="Calibri"/>
              </a:rPr>
              <a:t>+0.041 R2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0" y="1508760"/>
            <a:ext cx="13716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387584" y="153619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B7F4B"/>
                </a:solidFill>
                <a:latin typeface="Calibri"/>
              </a:rPr>
              <a:t>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874519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12064" y="1901951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T1 at-a-station (TabPFN)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1874519"/>
            <a:ext cx="39319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255264" y="1901951"/>
            <a:ext cx="38221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in-context vs train-once, same info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1874519"/>
            <a:ext cx="32004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87183" y="1901951"/>
            <a:ext cx="3090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B7F4B"/>
                </a:solidFill>
                <a:latin typeface="Calibri"/>
              </a:rPr>
              <a:t>+0.087 / +0.056 median-site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1874519"/>
            <a:ext cx="13716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387584" y="1901951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B7F4B"/>
                </a:solidFill>
                <a:latin typeface="Calibri"/>
              </a:rPr>
              <a:t>PASS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240279"/>
            <a:ext cx="27432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2267711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StefaNP A1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0" y="2240279"/>
            <a:ext cx="393192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255264" y="2267711"/>
            <a:ext cx="38221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cross-variable, no hand-built feature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0" y="2240279"/>
            <a:ext cx="32004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87183" y="2267711"/>
            <a:ext cx="3090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B7F4B"/>
                </a:solidFill>
                <a:latin typeface="Calibri"/>
              </a:rPr>
              <a:t>+0.108 R2 = 2.6x the feature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332720" y="2240279"/>
            <a:ext cx="13716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387584" y="2267711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B7F4B"/>
                </a:solidFill>
                <a:latin typeface="Calibri"/>
              </a:rPr>
              <a:t>PASS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2606039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12064" y="2633471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StefaNP A2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2606039"/>
            <a:ext cx="39319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255264" y="2633471"/>
            <a:ext cx="38221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beat per-site power law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0" y="2606039"/>
            <a:ext cx="32004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187183" y="2633471"/>
            <a:ext cx="3090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B7F4B"/>
                </a:solidFill>
                <a:latin typeface="Calibri"/>
              </a:rPr>
              <a:t>+0.081 / +0.167 / +0.081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32720" y="2606039"/>
            <a:ext cx="13716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387584" y="2633471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B7F4B"/>
                </a:solidFill>
                <a:latin typeface="Calibri"/>
              </a:rPr>
              <a:t>PASS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2971799"/>
            <a:ext cx="27432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12064" y="2999231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StefaNP A3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0" y="2971799"/>
            <a:ext cx="393192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255264" y="2999231"/>
            <a:ext cx="38221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zero-context vs attributes-only RF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2320" y="2971799"/>
            <a:ext cx="32004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187183" y="2999231"/>
            <a:ext cx="3090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B03A2B"/>
                </a:solidFill>
                <a:latin typeface="Calibri"/>
              </a:rPr>
              <a:t>-0.075 / +0.013 / -0.042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332720" y="2971799"/>
            <a:ext cx="13716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387584" y="2999231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B03A2B"/>
                </a:solidFill>
                <a:latin typeface="Calibri"/>
              </a:rPr>
              <a:t>FAIL 2 of 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3337559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12064" y="3364991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Sampler v0 (uncond.)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0" y="3337559"/>
            <a:ext cx="39319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255264" y="3364991"/>
            <a:ext cx="38221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RePaint forcing on unconditional DDPM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32320" y="3337559"/>
            <a:ext cx="32004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187183" y="3364991"/>
            <a:ext cx="3090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psd 2.90 vs band 0.7-1.3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337559"/>
            <a:ext cx="13716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0387584" y="3364991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B03A2B"/>
                </a:solidFill>
                <a:latin typeface="Calibri"/>
              </a:rPr>
              <a:t>FAIL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3703320"/>
            <a:ext cx="27432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12064" y="3730752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Sampler v1 (conditioned)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0" y="3703320"/>
            <a:ext cx="393192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3255264" y="3730752"/>
            <a:ext cx="38221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texture + diversity + fidelity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132320" y="3703320"/>
            <a:ext cx="32004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187183" y="3730752"/>
            <a:ext cx="3090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psd 0.66, vario 0.80/0.93, elev 1.05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3703320"/>
            <a:ext cx="13716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387584" y="373075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B7F4B"/>
                </a:solidFill>
                <a:latin typeface="Calibri"/>
              </a:rPr>
              <a:t>PASS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406908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12064" y="4096512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Terrain unit U4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0" y="4069080"/>
            <a:ext cx="39319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3255264" y="4096512"/>
            <a:ext cx="38221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does DEM add to the connected model?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132320" y="4069080"/>
            <a:ext cx="32004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7187183" y="4096512"/>
            <a:ext cx="3090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not yet run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332720" y="4069080"/>
            <a:ext cx="13716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0387584" y="409651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B57A0B"/>
                </a:solidFill>
                <a:latin typeface="Calibri"/>
              </a:rPr>
              <a:t>?  unproven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434840"/>
            <a:ext cx="27432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512064" y="4462272"/>
            <a:ext cx="26334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Unit C (time series)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0" y="4434840"/>
            <a:ext cx="393192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3255264" y="4462272"/>
            <a:ext cx="38221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beat a regional LSTM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132320" y="4434840"/>
            <a:ext cx="32004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7187183" y="4462272"/>
            <a:ext cx="3090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not built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332720" y="4434840"/>
            <a:ext cx="1371600" cy="365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0387584" y="4462272"/>
            <a:ext cx="1261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B57A0B"/>
                </a:solidFill>
                <a:latin typeface="Calibri"/>
              </a:rPr>
              <a:t>?  unproven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4892040"/>
            <a:ext cx="11247120" cy="9601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B5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640080" y="500176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Caveat that applies to ALL of the above: single seed, single holdout region (HUC2 03). This session's own history says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single runs mislead by more than the effects being claimed — multi-seed, multi-region before any of this is quoted.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B03A2B"/>
                </a:solidFill>
                <a:latin typeface="Calibri"/>
              </a:rPr>
              <a:t>Also open: a join defect leaves site_no NaN on 60% of rows, so Phase 1 trains on 25,656 of 64,797 visits.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One model, every prediction mode: the MASK IS THE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There is no mode switch at inference — you choose which positions to hide, and that is the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3200400" cy="566928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12064" y="1170432"/>
            <a:ext cx="30906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your data situation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1143000"/>
            <a:ext cx="3108960" cy="566928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12463" y="1170432"/>
            <a:ext cx="29992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what you mask at inference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143000"/>
            <a:ext cx="2286000" cy="566928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21424" y="1170432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= which training mask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1143000"/>
            <a:ext cx="2651760" cy="566928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07424" y="1170432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what you 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09928"/>
            <a:ext cx="320040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2064" y="1737360"/>
            <a:ext cx="30906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forcings only, no observations ever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709928"/>
            <a:ext cx="310896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12463" y="1737360"/>
            <a:ext cx="29992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all observation positions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1709928"/>
            <a:ext cx="228600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21424" y="1737360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whole-site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709928"/>
            <a:ext cx="265176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07424" y="1737360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PUB / ungauged prediction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76856"/>
            <a:ext cx="3200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12064" y="2304288"/>
            <a:ext cx="30906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some observations exist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2276856"/>
            <a:ext cx="31089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12463" y="2304288"/>
            <a:ext cx="29992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only the ones you want predicted;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the rest stay 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2276856"/>
            <a:ext cx="22860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21424" y="2304288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whole-site (partial)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60" y="2276856"/>
            <a:ext cx="26517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07424" y="2304288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prediction conditioned on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the observations you have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43784"/>
            <a:ext cx="320040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2871216"/>
            <a:ext cx="30906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record has gaps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2843784"/>
            <a:ext cx="310896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712463" y="2871216"/>
            <a:ext cx="29992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the gap positions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843784"/>
            <a:ext cx="228600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821424" y="2871216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random span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52560" y="2843784"/>
            <a:ext cx="265176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107424" y="2871216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gap filling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410712"/>
            <a:ext cx="3200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12064" y="3438144"/>
            <a:ext cx="30906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want the future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3410712"/>
            <a:ext cx="31089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712463" y="3438144"/>
            <a:ext cx="29992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everything after 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3410712"/>
            <a:ext cx="22860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821424" y="3438144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causal tail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52560" y="3410712"/>
            <a:ext cx="26517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107424" y="3438144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forecasting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977640"/>
            <a:ext cx="320040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12064" y="4005072"/>
            <a:ext cx="30906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one variable never measured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0" y="3977640"/>
            <a:ext cx="310896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712463" y="4005072"/>
            <a:ext cx="29992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that whole series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66560" y="3977640"/>
            <a:ext cx="228600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21424" y="4005072"/>
            <a:ext cx="21762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whole-variable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52560" y="3977640"/>
            <a:ext cx="2651760" cy="56692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107424" y="4005072"/>
            <a:ext cx="25420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cross-variable inference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4114800"/>
            <a:ext cx="11247120" cy="114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B7F4B"/>
                </a:solidFill>
                <a:latin typeface="Calibri"/>
              </a:rPr>
              <a:t>The key point: existing observations do NOT go into a separate 'context' slot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526280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Being UNMASKED *is* being context. A site with 3 years of streamflow and a gap in year 2 has: 3 years unmasked (context)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and the gap masked (query) — in the same sequence, in one forward pass. The four training masks exist so that every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combination of visible and hidden the real world produces has been seen during training.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394960"/>
            <a:ext cx="11247120" cy="96012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B5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Implementation trap: THREE kinds of 'absent' must never be conflated —  (1) padding, a short record: masked, never scored;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(2) genuinely missing, a gauge outage: masked, never scored, but CAN be predicted; (3) deliberately masked for training: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predicted AND scored. Filling any of them with zeros makes 'absent' indistinguishable from a real zero.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How to train 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Four stages; each one is runnable and checkable before the next begins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457200" cy="914400"/>
          </a:xfrm>
          <a:prstGeom prst="roundRect">
            <a:avLst/>
          </a:prstGeom>
          <a:solidFill>
            <a:srgbClr val="1B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3533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7552" y="1097280"/>
            <a:ext cx="1074420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1152144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7F4B"/>
                </a:solidFill>
                <a:latin typeface="Calibri"/>
              </a:rPr>
              <a:t>Unit-wise pretraining  —  DEBUGGING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26464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Each encoder alone on its own masked objective. Purpose is to prove the encoder works and clear its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U3 gate, NOT to produce the final weights. Unit B done (sampler); unit D done (Phase 1); A is StefaLand.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30552"/>
            <a:ext cx="457200" cy="1207008"/>
          </a:xfrm>
          <a:prstGeom prst="round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2532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" y="2130552"/>
            <a:ext cx="10744200" cy="120700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43000" y="218541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5F8A"/>
                </a:solidFill>
                <a:latin typeface="Calibri"/>
              </a:rPr>
              <a:t>Per-site joint  —  all modalities in ONE 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459736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sequence = [ attr_tok, dem_tok, meas_tok x M, ts_patch x N ].  Self-attention lets every temporal patch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see the catchment descriptors — this is how attributes reach unit C, and it is what StefaLand already does.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Objective: mask any subset of ANY modality, reconstruct in data space. Cross-modal from the start.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56432"/>
            <a:ext cx="457200" cy="1207008"/>
          </a:xfrm>
          <a:prstGeom prst="round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7200" y="38587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2" y="3456432"/>
            <a:ext cx="10744200" cy="120700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43000" y="351129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5F8A"/>
                </a:solidFill>
                <a:latin typeface="Calibri"/>
              </a:rPr>
              <a:t>Cross-site  —  add the connector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785616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Freeze or LoRA the per-site encoders; train the connector on task-sampled batches.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WHOLE-SITE masking is what forces it to use neighbours: with every observation at the query site hidden,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the only remaining information is other sites. Randomise the CONTEXT SIZE here (measured problem: with a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fixed n_ctx the model calibrates off one neighbour and never learns to aggregate).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782312"/>
            <a:ext cx="457200" cy="914400"/>
          </a:xfrm>
          <a:prstGeom prst="roundRect">
            <a:avLst/>
          </a:prstGeom>
          <a:solidFill>
            <a:srgbClr val="B57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200" y="50383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7552" y="4782312"/>
            <a:ext cx="1074420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143000" y="483717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B57A0B"/>
                </a:solidFill>
                <a:latin typeface="Calibri"/>
              </a:rPr>
              <a:t>Joint fine-tune  —  everything, low LR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111496"/>
            <a:ext cx="10424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Unfreeze with residual adapters (StefaLand ships these). Missing-modality dropout throughout so any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subset of inputs works at inference. This is the only stage needing the 8xA100 machine.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833872"/>
            <a:ext cx="11247120" cy="932688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5925312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Batch = a TASK, not a row: sample S sites, sample a mask pattern, mask, reconstruct. Loss = sum of per-modality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reconstruction in data space, weighted so no modality dominates by sheer token count. Mask ratio on a schedule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(easy -&gt; hard). Splits by SITE and leave-region-out throughout — the only honest test of what this is for.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StefaLand has no channel geometry — three ways to add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Ordered by cost; they are complementary, not alternatives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21615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7F4B"/>
                </a:solidFill>
                <a:latin typeface="Calibri"/>
              </a:rPr>
              <a:t>1 · As an auxiliary TARGET  (shapes the encoder)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27048"/>
            <a:ext cx="10881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Add a head predicting log_d / log_v from the site's static+DEM representation.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The head is DISCARDED at inference, so no geometry is needed at test time —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it exists only to force the encoder to represent hydrologic context.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MEASURED: raw log_d/log_v are learnable at R2 0.68–0.72, so the signal is dense.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WARNING (measured): the RESIDUAL is NOT learnable from terrain — all six cells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negative under two fold structures. Use raw targets, never residuals.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89504"/>
            <a:ext cx="1124712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2962656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7F4B"/>
                </a:solidFill>
                <a:latin typeface="Calibri"/>
              </a:rPr>
              <a:t>2 · As context TOKENS  (the StefaNP route, already built)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73552"/>
            <a:ext cx="108813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Each (var, value, Q) visit becomes a token in the site bundle.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Needs no schema change to StefaLand — it is a new unit beside it.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MEASURED: this is what delivers A1 (+0.108) and A2.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87368"/>
            <a:ext cx="1124712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57A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57A0B"/>
                </a:solidFill>
                <a:latin typeface="Calibri"/>
              </a:rPr>
              <a:t>3 · As a fine-tuning corpus  (residual adapters)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71416"/>
            <a:ext cx="1088136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StefaLand ships residual fine-tuning adapters — the intended mechanism.</a:t>
            </a:r>
          </a:p>
          <a:p>
            <a:pPr algn="l">
              <a:spcAft>
                <a:spcPts val="1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Cheapest to try, but inherits StefaLand's location-awareness.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285231"/>
            <a:ext cx="11247120" cy="86868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5358383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Caveat carried from our measurements: StefaLand embeddings reconstruct absolute elevation at R2 0.936 — a LOCATION FINGERPRINT.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A1A1A"/>
                </a:solidFill>
                <a:latin typeface="Calibri"/>
              </a:rPr>
              <a:t>They added −0.004 to channel geometry. Evaluate under leave-region-out and consider a de-located variant before trusting transfer.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Applying the model in a NEW region with some context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No retraining, no fine-tuning — the adaptation is the forward pass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02920" cy="841248"/>
          </a:xfrm>
          <a:prstGeom prst="round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097280"/>
            <a:ext cx="1065276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8" y="1152144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Assemble the query 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1426464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5F66"/>
                </a:solidFill>
                <a:latin typeface="Calibri"/>
              </a:rPr>
              <a:t>attributes + DEM patch + whatever forcing series exist.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5F66"/>
                </a:solidFill>
                <a:latin typeface="Calibri"/>
              </a:rPr>
              <a:t>No observations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029967"/>
            <a:ext cx="502920" cy="841248"/>
          </a:xfrm>
          <a:prstGeom prst="round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223113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2029967"/>
            <a:ext cx="1065276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07008" y="2084831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RETRIEVE context sites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2359151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5F66"/>
                </a:solidFill>
                <a:latin typeface="Calibri"/>
              </a:rPr>
              <a:t>top-k by attribute / geographic similarity from anywhere in the world.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5F66"/>
                </a:solidFill>
                <a:latin typeface="Calibri"/>
              </a:rPr>
              <a:t>They need not be in the new region — that is the point of a learned prior.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62656"/>
            <a:ext cx="502920" cy="841248"/>
          </a:xfrm>
          <a:prstGeom prst="round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7200" y="316382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2962656"/>
            <a:ext cx="1065276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07008" y="30175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Add any local observations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3291839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5F66"/>
                </a:solidFill>
                <a:latin typeface="Calibri"/>
              </a:rPr>
              <a:t>a few gauges in the region, or two field visits at the query site itself.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5F66"/>
                </a:solidFill>
                <a:latin typeface="Calibri"/>
              </a:rPr>
              <a:t>They enter as ordinary context tokens; zero is allowed.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895344"/>
            <a:ext cx="502920" cy="841248"/>
          </a:xfrm>
          <a:prstGeom prst="round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200" y="409651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3895344"/>
            <a:ext cx="1065276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07008" y="395020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Emit the [TASK] 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4224528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5F66"/>
                </a:solidFill>
                <a:latin typeface="Calibri"/>
              </a:rPr>
              <a:t>name the variable and covariates (e.g. streamflow on date t; or log_d at Q).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5F66"/>
                </a:solidFill>
                <a:latin typeface="Calibri"/>
              </a:rPr>
              <a:t>Value replaced by the learned mask embedding.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828031"/>
            <a:ext cx="502920" cy="841248"/>
          </a:xfrm>
          <a:prstGeom prst="round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502919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51560" y="4828031"/>
            <a:ext cx="10652760" cy="8412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207008" y="4882895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A1A1A"/>
                </a:solidFill>
                <a:latin typeface="Calibri"/>
              </a:rPr>
              <a:t>Read the distribution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5157216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5A5F66"/>
                </a:solidFill>
                <a:latin typeface="Calibri"/>
              </a:rPr>
              <a:t>one forward pass -&gt; full predictive distribution, not a point estimate.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806439"/>
            <a:ext cx="11247120" cy="91440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1B7F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0080" y="5907023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7F4B"/>
                </a:solidFill>
                <a:latin typeface="Calibri"/>
              </a:rPr>
              <a:t>Time-series prediction specifically: the query is a [TASK] token per (variable, timestep) — or a masked PATCH for a horizon.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7F4B"/>
                </a:solidFill>
                <a:latin typeface="Calibri"/>
              </a:rPr>
              <a:t>Context = neighbouring gauged basins' forcing+discharge histories. This is the 'whole-site mask' the temporal unit was pretrained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1A1A1A"/>
                </a:solidFill>
                <a:latin typeface="Calibri"/>
              </a:rPr>
              <a:t>What is next, and when the big machine gets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A5F66"/>
                </a:solidFill>
                <a:latin typeface="Calibri"/>
              </a:rPr>
              <a:t>Small-scale gates first; 8xA100 only after value is confirmed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0" cy="402336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12064" y="1216152"/>
            <a:ext cx="438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1188720"/>
            <a:ext cx="3840480" cy="402336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60704" y="1216152"/>
            <a:ext cx="3730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next step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188720"/>
            <a:ext cx="5120640" cy="402336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901184" y="1216152"/>
            <a:ext cx="5010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why 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966960" y="1188720"/>
            <a:ext cx="1737360" cy="402336"/>
          </a:xfrm>
          <a:prstGeom prst="rect">
            <a:avLst/>
          </a:prstGeom>
          <a:solidFill>
            <a:srgbClr val="0B5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21824" y="1216152"/>
            <a:ext cx="16276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91056"/>
            <a:ext cx="54864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2064" y="1618488"/>
            <a:ext cx="438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1591056"/>
            <a:ext cx="384048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60704" y="1618488"/>
            <a:ext cx="3730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Fix the site_no join defect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1591056"/>
            <a:ext cx="512064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01184" y="1618488"/>
            <a:ext cx="5010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recovers 60% of training visits; helps every later number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66960" y="1591056"/>
            <a:ext cx="1737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021824" y="1618488"/>
            <a:ext cx="16276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hours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993392"/>
            <a:ext cx="5486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12064" y="2020824"/>
            <a:ext cx="438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5840" y="1993392"/>
            <a:ext cx="38404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60704" y="2020824"/>
            <a:ext cx="3730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Multi-seed / multi-region Phase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1993392"/>
            <a:ext cx="51206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01184" y="2020824"/>
            <a:ext cx="5010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current results are single-seed, single-holdout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60" y="1993392"/>
            <a:ext cx="1737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0021824" y="2020824"/>
            <a:ext cx="16276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1 GPU-day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395728"/>
            <a:ext cx="54864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2423160"/>
            <a:ext cx="438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" y="2395728"/>
            <a:ext cx="384048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60704" y="2423160"/>
            <a:ext cx="3730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Build unit C (forcing-response)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2395728"/>
            <a:ext cx="512064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901184" y="2423160"/>
            <a:ext cx="5010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the only unbuilt unit; makes this a hydrology model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66960" y="2395728"/>
            <a:ext cx="1737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021824" y="2423160"/>
            <a:ext cx="16276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2–5 GPU-days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2798064"/>
            <a:ext cx="5486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12064" y="2825496"/>
            <a:ext cx="438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" y="2798064"/>
            <a:ext cx="38404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060704" y="2825496"/>
            <a:ext cx="3730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Terrain U4 (E0/E1/E2)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46320" y="2798064"/>
            <a:ext cx="51206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901184" y="2825496"/>
            <a:ext cx="5010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does DEM add anything the core lacks?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66960" y="2798064"/>
            <a:ext cx="1737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021824" y="2825496"/>
            <a:ext cx="16276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1–2 GPU-days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200400"/>
            <a:ext cx="54864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12064" y="3227832"/>
            <a:ext cx="438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5840" y="3200400"/>
            <a:ext cx="384048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60704" y="3227832"/>
            <a:ext cx="3730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Connection phase at scale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46320" y="3200400"/>
            <a:ext cx="512064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901184" y="3227832"/>
            <a:ext cx="50109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all units, missing-modality dropout, adapters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966960" y="3200400"/>
            <a:ext cx="1737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021824" y="3227832"/>
            <a:ext cx="16276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1A1A1A"/>
                </a:solidFill>
                <a:latin typeface="Calibri"/>
              </a:rPr>
              <a:t>1–2 GPU-weeks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3703320"/>
            <a:ext cx="11247120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03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40080" y="3813048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B03A2B"/>
                </a:solidFill>
                <a:latin typeface="Calibri"/>
              </a:rPr>
              <a:t>The weakness to attack first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A3 — the ZERO-CONTEXT floor — is the mode global/ungauged deployment actually runs in, and it is the one gate that failed.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Steps 1 and 2 are aimed squarely at it before any new unit is added.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4937760"/>
            <a:ext cx="11247120" cy="914400"/>
          </a:xfrm>
          <a:prstGeom prst="roundRect">
            <a:avLst/>
          </a:prstGeom>
          <a:solidFill>
            <a:srgbClr val="F4F6F8"/>
          </a:solidFill>
          <a:ln w="15875">
            <a:solidFill>
              <a:srgbClr val="0B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40080" y="5047488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Compute gating (agreed): the 8xA100 machine is engaged only after the single-GPU gates confirm value. Total pretraining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cost is academic-scale (~2–4 GPU-weeks single-GPU equivalent); the real cost is data engineering, measured in person-weeks.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